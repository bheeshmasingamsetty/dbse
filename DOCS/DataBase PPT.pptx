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99"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varScale="1">
        <p:scale>
          <a:sx n="81" d="100"/>
          <a:sy n="81" d="100"/>
        </p:scale>
        <p:origin x="62" y="6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8/17/2026</a:t>
            </a:fld>
            <a:endParaRPr lang="en-US"/>
          </a:p>
        </p:txBody>
      </p:sp>
      <p:sp>
        <p:nvSpPr>
          <p:cNvPr id="4" name="Footer Placeholder 3">
            <a:extLst>
              <a:ext uri="{FF2B5EF4-FFF2-40B4-BE49-F238E27FC236}">
                <a16:creationId xmlns:a16="http://schemas.microsoft.com/office/drawing/2014/main" xmlns=""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xmlns=""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xmlns=""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xmlns=""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xmlns=""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xmlns=""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xmlns=""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xmlns=""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xmlns=""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xmlns=""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62C99788-2E86-FADA-072C-884B0261564B}"/>
              </a:ext>
            </a:extLst>
          </p:cNvPr>
          <p:cNvSpPr>
            <a:spLocks noGrp="1"/>
          </p:cNvSpPr>
          <p:nvPr>
            <p:ph type="dt" sz="half" idx="10"/>
          </p:nvPr>
        </p:nvSpPr>
        <p:spPr/>
        <p:txBody>
          <a:bodyPr/>
          <a:lstStyle/>
          <a:p>
            <a:fld id="{E0DA504A-D052-4F2D-906E-4CCCD67E5352}" type="datetime1">
              <a:rPr lang="en-IN" smtClean="0"/>
              <a:t>17-08-2026</a:t>
            </a:fld>
            <a:endParaRPr lang="en-US"/>
          </a:p>
        </p:txBody>
      </p:sp>
      <p:sp>
        <p:nvSpPr>
          <p:cNvPr id="5" name="Footer Placeholder 4">
            <a:extLst>
              <a:ext uri="{FF2B5EF4-FFF2-40B4-BE49-F238E27FC236}">
                <a16:creationId xmlns:a16="http://schemas.microsoft.com/office/drawing/2014/main" xmlns=""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xmlns=""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49EAE72D-6D76-FAB8-D597-99BF2087AA5B}"/>
              </a:ext>
            </a:extLst>
          </p:cNvPr>
          <p:cNvSpPr>
            <a:spLocks noGrp="1"/>
          </p:cNvSpPr>
          <p:nvPr>
            <p:ph type="dt" sz="half" idx="10"/>
          </p:nvPr>
        </p:nvSpPr>
        <p:spPr/>
        <p:txBody>
          <a:bodyPr/>
          <a:lstStyle/>
          <a:p>
            <a:fld id="{3C447009-55DF-4EA5-900B-29AFB7C8438A}" type="datetime1">
              <a:rPr lang="en-IN" smtClean="0"/>
              <a:t>17-08-2026</a:t>
            </a:fld>
            <a:endParaRPr lang="en-US"/>
          </a:p>
        </p:txBody>
      </p:sp>
      <p:sp>
        <p:nvSpPr>
          <p:cNvPr id="5" name="Footer Placeholder 4">
            <a:extLst>
              <a:ext uri="{FF2B5EF4-FFF2-40B4-BE49-F238E27FC236}">
                <a16:creationId xmlns:a16="http://schemas.microsoft.com/office/drawing/2014/main" xmlns=""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xmlns=""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xmlns=""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0AD292FD-C465-3FCB-1CEB-331C31A973F6}"/>
              </a:ext>
            </a:extLst>
          </p:cNvPr>
          <p:cNvSpPr>
            <a:spLocks noGrp="1"/>
          </p:cNvSpPr>
          <p:nvPr>
            <p:ph type="dt" sz="half" idx="10"/>
          </p:nvPr>
        </p:nvSpPr>
        <p:spPr/>
        <p:txBody>
          <a:bodyPr/>
          <a:lstStyle/>
          <a:p>
            <a:fld id="{FFE8B550-430E-4E00-8584-398912EDCDA8}" type="datetime1">
              <a:rPr lang="en-IN" smtClean="0"/>
              <a:t>17-08-2026</a:t>
            </a:fld>
            <a:endParaRPr lang="en-US"/>
          </a:p>
        </p:txBody>
      </p:sp>
      <p:sp>
        <p:nvSpPr>
          <p:cNvPr id="5" name="Footer Placeholder 4">
            <a:extLst>
              <a:ext uri="{FF2B5EF4-FFF2-40B4-BE49-F238E27FC236}">
                <a16:creationId xmlns:a16="http://schemas.microsoft.com/office/drawing/2014/main" xmlns=""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xmlns=""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2A3C372B-55E2-4467-1C5C-88EAE728396A}"/>
              </a:ext>
            </a:extLst>
          </p:cNvPr>
          <p:cNvSpPr>
            <a:spLocks noGrp="1"/>
          </p:cNvSpPr>
          <p:nvPr>
            <p:ph type="dt" sz="half" idx="10"/>
          </p:nvPr>
        </p:nvSpPr>
        <p:spPr/>
        <p:txBody>
          <a:bodyPr/>
          <a:lstStyle/>
          <a:p>
            <a:fld id="{BF3515C1-FC0C-48DC-AA13-5A7440F04A46}" type="datetime1">
              <a:rPr lang="en-IN" smtClean="0"/>
              <a:t>17-08-2026</a:t>
            </a:fld>
            <a:endParaRPr lang="en-US"/>
          </a:p>
        </p:txBody>
      </p:sp>
      <p:sp>
        <p:nvSpPr>
          <p:cNvPr id="6" name="Footer Placeholder 5">
            <a:extLst>
              <a:ext uri="{FF2B5EF4-FFF2-40B4-BE49-F238E27FC236}">
                <a16:creationId xmlns:a16="http://schemas.microsoft.com/office/drawing/2014/main" xmlns=""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xmlns=""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3FEB0191-CD7B-6170-8655-A3CD1009BEA8}"/>
              </a:ext>
            </a:extLst>
          </p:cNvPr>
          <p:cNvSpPr>
            <a:spLocks noGrp="1"/>
          </p:cNvSpPr>
          <p:nvPr>
            <p:ph type="dt" sz="half" idx="10"/>
          </p:nvPr>
        </p:nvSpPr>
        <p:spPr/>
        <p:txBody>
          <a:bodyPr/>
          <a:lstStyle/>
          <a:p>
            <a:fld id="{06C4A9D0-F765-45B1-928F-556B91D2C522}" type="datetime1">
              <a:rPr lang="en-IN" smtClean="0"/>
              <a:t>17-08-2026</a:t>
            </a:fld>
            <a:endParaRPr lang="en-US"/>
          </a:p>
        </p:txBody>
      </p:sp>
      <p:sp>
        <p:nvSpPr>
          <p:cNvPr id="8" name="Footer Placeholder 7">
            <a:extLst>
              <a:ext uri="{FF2B5EF4-FFF2-40B4-BE49-F238E27FC236}">
                <a16:creationId xmlns:a16="http://schemas.microsoft.com/office/drawing/2014/main" xmlns=""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xmlns=""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xmlns="" id="{06C47471-9D6F-27AE-9B05-71D6BF96E327}"/>
              </a:ext>
            </a:extLst>
          </p:cNvPr>
          <p:cNvSpPr>
            <a:spLocks noGrp="1"/>
          </p:cNvSpPr>
          <p:nvPr>
            <p:ph type="dt" sz="half" idx="10"/>
          </p:nvPr>
        </p:nvSpPr>
        <p:spPr/>
        <p:txBody>
          <a:bodyPr/>
          <a:lstStyle/>
          <a:p>
            <a:fld id="{2420E6F3-7E24-4BDE-BB37-BD18A6966701}" type="datetime1">
              <a:rPr lang="en-IN" smtClean="0"/>
              <a:t>17-08-2026</a:t>
            </a:fld>
            <a:endParaRPr lang="en-US"/>
          </a:p>
        </p:txBody>
      </p:sp>
      <p:sp>
        <p:nvSpPr>
          <p:cNvPr id="4" name="Footer Placeholder 3">
            <a:extLst>
              <a:ext uri="{FF2B5EF4-FFF2-40B4-BE49-F238E27FC236}">
                <a16:creationId xmlns:a16="http://schemas.microsoft.com/office/drawing/2014/main" xmlns=""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xmlns=""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12BBBBF-B095-FC7E-61BE-572DFB7B12F6}"/>
              </a:ext>
            </a:extLst>
          </p:cNvPr>
          <p:cNvSpPr>
            <a:spLocks noGrp="1"/>
          </p:cNvSpPr>
          <p:nvPr>
            <p:ph type="dt" sz="half" idx="10"/>
          </p:nvPr>
        </p:nvSpPr>
        <p:spPr/>
        <p:txBody>
          <a:bodyPr/>
          <a:lstStyle/>
          <a:p>
            <a:fld id="{63113449-4DF0-4F1F-A3E4-097B1714C7C4}" type="datetime1">
              <a:rPr lang="en-IN" smtClean="0"/>
              <a:t>17-08-2026</a:t>
            </a:fld>
            <a:endParaRPr lang="en-US"/>
          </a:p>
        </p:txBody>
      </p:sp>
      <p:sp>
        <p:nvSpPr>
          <p:cNvPr id="3" name="Footer Placeholder 2">
            <a:extLst>
              <a:ext uri="{FF2B5EF4-FFF2-40B4-BE49-F238E27FC236}">
                <a16:creationId xmlns:a16="http://schemas.microsoft.com/office/drawing/2014/main" xmlns=""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xmlns=""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xmlns=""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85097CAE-AF61-8AFD-5350-97D8044E1275}"/>
              </a:ext>
            </a:extLst>
          </p:cNvPr>
          <p:cNvSpPr>
            <a:spLocks noGrp="1"/>
          </p:cNvSpPr>
          <p:nvPr>
            <p:ph type="dt" sz="half" idx="10"/>
          </p:nvPr>
        </p:nvSpPr>
        <p:spPr/>
        <p:txBody>
          <a:bodyPr/>
          <a:lstStyle/>
          <a:p>
            <a:fld id="{7CF4166F-CD67-4CEB-8DD7-1E38016562AC}" type="datetime1">
              <a:rPr lang="en-IN" smtClean="0"/>
              <a:t>17-08-2026</a:t>
            </a:fld>
            <a:endParaRPr lang="en-US"/>
          </a:p>
        </p:txBody>
      </p:sp>
      <p:sp>
        <p:nvSpPr>
          <p:cNvPr id="6" name="Footer Placeholder 5">
            <a:extLst>
              <a:ext uri="{FF2B5EF4-FFF2-40B4-BE49-F238E27FC236}">
                <a16:creationId xmlns:a16="http://schemas.microsoft.com/office/drawing/2014/main" xmlns=""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xmlns=""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xmlns=""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F3F31731-B315-1CCB-7EEF-B7C7EC9254AA}"/>
              </a:ext>
            </a:extLst>
          </p:cNvPr>
          <p:cNvSpPr>
            <a:spLocks noGrp="1"/>
          </p:cNvSpPr>
          <p:nvPr>
            <p:ph type="dt" sz="half" idx="10"/>
          </p:nvPr>
        </p:nvSpPr>
        <p:spPr/>
        <p:txBody>
          <a:bodyPr/>
          <a:lstStyle/>
          <a:p>
            <a:fld id="{9178F83E-6F8A-4D66-8D97-D167DE305BE2}" type="datetime1">
              <a:rPr lang="en-IN" smtClean="0"/>
              <a:t>17-08-2026</a:t>
            </a:fld>
            <a:endParaRPr lang="en-US"/>
          </a:p>
        </p:txBody>
      </p:sp>
      <p:sp>
        <p:nvSpPr>
          <p:cNvPr id="6" name="Footer Placeholder 5">
            <a:extLst>
              <a:ext uri="{FF2B5EF4-FFF2-40B4-BE49-F238E27FC236}">
                <a16:creationId xmlns:a16="http://schemas.microsoft.com/office/drawing/2014/main" xmlns=""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xmlns=""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8CC2AEC3-3D5C-B4D8-ADAC-C6249EB46A19}"/>
              </a:ext>
            </a:extLst>
          </p:cNvPr>
          <p:cNvSpPr>
            <a:spLocks noGrp="1"/>
          </p:cNvSpPr>
          <p:nvPr>
            <p:ph type="dt" sz="half" idx="10"/>
          </p:nvPr>
        </p:nvSpPr>
        <p:spPr/>
        <p:txBody>
          <a:bodyPr/>
          <a:lstStyle/>
          <a:p>
            <a:fld id="{68FA3A21-9775-4B2C-9B39-32116406212C}" type="datetime1">
              <a:rPr lang="en-IN" smtClean="0"/>
              <a:t>17-08-2026</a:t>
            </a:fld>
            <a:endParaRPr lang="en-US"/>
          </a:p>
        </p:txBody>
      </p:sp>
      <p:sp>
        <p:nvSpPr>
          <p:cNvPr id="5" name="Footer Placeholder 4">
            <a:extLst>
              <a:ext uri="{FF2B5EF4-FFF2-40B4-BE49-F238E27FC236}">
                <a16:creationId xmlns:a16="http://schemas.microsoft.com/office/drawing/2014/main" xmlns=""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xmlns=""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6B9CAE10-6B7D-C48F-F3FF-419AD4413A07}"/>
              </a:ext>
            </a:extLst>
          </p:cNvPr>
          <p:cNvSpPr>
            <a:spLocks noGrp="1"/>
          </p:cNvSpPr>
          <p:nvPr>
            <p:ph type="dt" sz="half" idx="10"/>
          </p:nvPr>
        </p:nvSpPr>
        <p:spPr/>
        <p:txBody>
          <a:bodyPr/>
          <a:lstStyle/>
          <a:p>
            <a:fld id="{D43ABDC8-9AAF-4B62-9540-4EA826AA678B}" type="datetime1">
              <a:rPr lang="en-IN" smtClean="0"/>
              <a:t>17-08-2026</a:t>
            </a:fld>
            <a:endParaRPr lang="en-US"/>
          </a:p>
        </p:txBody>
      </p:sp>
      <p:sp>
        <p:nvSpPr>
          <p:cNvPr id="5" name="Footer Placeholder 4">
            <a:extLst>
              <a:ext uri="{FF2B5EF4-FFF2-40B4-BE49-F238E27FC236}">
                <a16:creationId xmlns:a16="http://schemas.microsoft.com/office/drawing/2014/main" xmlns=""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xmlns=""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00154DD8-14C4-ACB8-D444-27F005A4C5CB}"/>
              </a:ext>
            </a:extLst>
          </p:cNvPr>
          <p:cNvSpPr>
            <a:spLocks noGrp="1"/>
          </p:cNvSpPr>
          <p:nvPr>
            <p:ph type="dt" sz="half" idx="10"/>
          </p:nvPr>
        </p:nvSpPr>
        <p:spPr/>
        <p:txBody>
          <a:bodyPr/>
          <a:lstStyle/>
          <a:p>
            <a:fld id="{5F3821C3-0F1A-498D-9F2E-D10FACA35B86}" type="datetime1">
              <a:rPr lang="en-IN" smtClean="0"/>
              <a:t>17-08-2026</a:t>
            </a:fld>
            <a:endParaRPr lang="en-US"/>
          </a:p>
        </p:txBody>
      </p:sp>
      <p:sp>
        <p:nvSpPr>
          <p:cNvPr id="5" name="Footer Placeholder 4">
            <a:extLst>
              <a:ext uri="{FF2B5EF4-FFF2-40B4-BE49-F238E27FC236}">
                <a16:creationId xmlns:a16="http://schemas.microsoft.com/office/drawing/2014/main" xmlns=""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xmlns=""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95C41205-CA2E-9649-1960-8F17E0E6D292}"/>
              </a:ext>
            </a:extLst>
          </p:cNvPr>
          <p:cNvSpPr>
            <a:spLocks noGrp="1"/>
          </p:cNvSpPr>
          <p:nvPr>
            <p:ph type="dt" sz="half" idx="10"/>
          </p:nvPr>
        </p:nvSpPr>
        <p:spPr/>
        <p:txBody>
          <a:bodyPr/>
          <a:lstStyle/>
          <a:p>
            <a:fld id="{B119A7DA-FCDD-43FA-8A0C-6A5B2B391695}" type="datetime1">
              <a:rPr lang="en-IN" smtClean="0"/>
              <a:t>17-08-2026</a:t>
            </a:fld>
            <a:endParaRPr lang="en-US"/>
          </a:p>
        </p:txBody>
      </p:sp>
      <p:sp>
        <p:nvSpPr>
          <p:cNvPr id="5" name="Footer Placeholder 4">
            <a:extLst>
              <a:ext uri="{FF2B5EF4-FFF2-40B4-BE49-F238E27FC236}">
                <a16:creationId xmlns:a16="http://schemas.microsoft.com/office/drawing/2014/main" xmlns=""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xmlns=""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7525FFB0-0F78-AEB8-5AFB-EC779B961448}"/>
              </a:ext>
            </a:extLst>
          </p:cNvPr>
          <p:cNvSpPr>
            <a:spLocks noGrp="1"/>
          </p:cNvSpPr>
          <p:nvPr>
            <p:ph type="dt" sz="half" idx="10"/>
          </p:nvPr>
        </p:nvSpPr>
        <p:spPr/>
        <p:txBody>
          <a:bodyPr/>
          <a:lstStyle/>
          <a:p>
            <a:fld id="{C138D4BE-274D-4073-90F9-6DE45B427D7A}" type="datetime1">
              <a:rPr lang="en-IN" smtClean="0"/>
              <a:t>17-08-2026</a:t>
            </a:fld>
            <a:endParaRPr lang="en-US"/>
          </a:p>
        </p:txBody>
      </p:sp>
      <p:sp>
        <p:nvSpPr>
          <p:cNvPr id="5" name="Footer Placeholder 4">
            <a:extLst>
              <a:ext uri="{FF2B5EF4-FFF2-40B4-BE49-F238E27FC236}">
                <a16:creationId xmlns:a16="http://schemas.microsoft.com/office/drawing/2014/main" xmlns=""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xmlns=""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76262ECC-3BDB-BEA4-4B7F-1545B0DC3A73}"/>
              </a:ext>
            </a:extLst>
          </p:cNvPr>
          <p:cNvSpPr>
            <a:spLocks noGrp="1"/>
          </p:cNvSpPr>
          <p:nvPr>
            <p:ph type="dt" sz="half" idx="10"/>
          </p:nvPr>
        </p:nvSpPr>
        <p:spPr/>
        <p:txBody>
          <a:bodyPr/>
          <a:lstStyle/>
          <a:p>
            <a:fld id="{C4DD2526-BF89-47C7-96E6-5B804E43EF11}" type="datetime1">
              <a:rPr lang="en-IN" smtClean="0"/>
              <a:t>17-08-2026</a:t>
            </a:fld>
            <a:endParaRPr lang="en-US"/>
          </a:p>
        </p:txBody>
      </p:sp>
      <p:sp>
        <p:nvSpPr>
          <p:cNvPr id="6" name="Footer Placeholder 5">
            <a:extLst>
              <a:ext uri="{FF2B5EF4-FFF2-40B4-BE49-F238E27FC236}">
                <a16:creationId xmlns:a16="http://schemas.microsoft.com/office/drawing/2014/main" xmlns=""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xmlns=""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A22CB484-D858-5027-D2CF-125E103D2F43}"/>
              </a:ext>
            </a:extLst>
          </p:cNvPr>
          <p:cNvSpPr>
            <a:spLocks noGrp="1"/>
          </p:cNvSpPr>
          <p:nvPr>
            <p:ph type="dt" sz="half" idx="10"/>
          </p:nvPr>
        </p:nvSpPr>
        <p:spPr/>
        <p:txBody>
          <a:bodyPr/>
          <a:lstStyle/>
          <a:p>
            <a:fld id="{84827929-B24E-4CA0-A508-395AF785C673}" type="datetime1">
              <a:rPr lang="en-IN" smtClean="0"/>
              <a:t>17-08-2026</a:t>
            </a:fld>
            <a:endParaRPr lang="en-US"/>
          </a:p>
        </p:txBody>
      </p:sp>
      <p:sp>
        <p:nvSpPr>
          <p:cNvPr id="8" name="Footer Placeholder 7">
            <a:extLst>
              <a:ext uri="{FF2B5EF4-FFF2-40B4-BE49-F238E27FC236}">
                <a16:creationId xmlns:a16="http://schemas.microsoft.com/office/drawing/2014/main" xmlns=""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xmlns=""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17-08-2026</a:t>
            </a:fld>
            <a:endParaRPr lang="en-US"/>
          </a:p>
        </p:txBody>
      </p:sp>
      <p:sp>
        <p:nvSpPr>
          <p:cNvPr id="5" name="Footer Placeholder 4">
            <a:extLst>
              <a:ext uri="{FF2B5EF4-FFF2-40B4-BE49-F238E27FC236}">
                <a16:creationId xmlns:a16="http://schemas.microsoft.com/office/drawing/2014/main" xmlns=""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xmlns=""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17-08-2026</a:t>
            </a:fld>
            <a:endParaRPr lang="en-US"/>
          </a:p>
        </p:txBody>
      </p:sp>
      <p:sp>
        <p:nvSpPr>
          <p:cNvPr id="5" name="Footer Placeholder 4">
            <a:extLst>
              <a:ext uri="{FF2B5EF4-FFF2-40B4-BE49-F238E27FC236}">
                <a16:creationId xmlns:a16="http://schemas.microsoft.com/office/drawing/2014/main" xmlns=""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xmlns=""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500A09-BF95-A121-71A4-33FFE91ACA86}"/>
              </a:ext>
            </a:extLst>
          </p:cNvPr>
          <p:cNvSpPr>
            <a:spLocks noGrp="1"/>
          </p:cNvSpPr>
          <p:nvPr>
            <p:ph type="title"/>
          </p:nvPr>
        </p:nvSpPr>
        <p:spPr>
          <a:xfrm>
            <a:off x="961417" y="75414"/>
            <a:ext cx="10793808" cy="1348033"/>
          </a:xfrm>
        </p:spPr>
        <p:txBody>
          <a:bodyPr>
            <a:noAutofit/>
          </a:bodyPr>
          <a:lstStyle/>
          <a:p>
            <a:pPr algn="ctr">
              <a:lnSpc>
                <a:spcPct val="100000"/>
              </a:lnSpc>
            </a:pPr>
            <a:r>
              <a:rPr lang="en-US" sz="2400" b="1" dirty="0" smtClean="0">
                <a:cs typeface="Arial" panose="020B0604020202020204" pitchFamily="34" charset="0"/>
              </a:rPr>
              <a:t/>
            </a:r>
            <a:br>
              <a:rPr lang="en-US" sz="2400" b="1" dirty="0" smtClean="0">
                <a:cs typeface="Arial" panose="020B0604020202020204" pitchFamily="34" charset="0"/>
              </a:rPr>
            </a:br>
            <a:r>
              <a:rPr lang="en-US" sz="2400" b="1" dirty="0" smtClean="0">
                <a:cs typeface="Arial" panose="020B0604020202020204" pitchFamily="34" charset="0"/>
              </a:rPr>
              <a:t>1</a:t>
            </a:r>
            <a:r>
              <a:rPr lang="en-US" sz="2400" b="1" baseline="30000" dirty="0" smtClean="0">
                <a:cs typeface="Arial" panose="020B0604020202020204" pitchFamily="34" charset="0"/>
              </a:rPr>
              <a:t>st</a:t>
            </a:r>
            <a:r>
              <a:rPr lang="en-US" sz="2400" b="1" dirty="0" smtClean="0">
                <a:cs typeface="Arial" panose="020B0604020202020204" pitchFamily="34" charset="0"/>
              </a:rPr>
              <a:t>  REVIEW</a:t>
            </a:r>
            <a:r>
              <a:rPr lang="en-US" sz="2400" dirty="0" smtClean="0">
                <a:latin typeface="+mn-lt"/>
                <a:cs typeface="Arial" panose="020B0604020202020204" pitchFamily="34" charset="0"/>
              </a:rPr>
              <a:t/>
            </a:r>
            <a:br>
              <a:rPr lang="en-US" sz="2400" dirty="0" smtClean="0">
                <a:latin typeface="+mn-lt"/>
                <a:cs typeface="Arial" panose="020B0604020202020204" pitchFamily="34" charset="0"/>
              </a:rPr>
            </a:br>
            <a:r>
              <a:rPr lang="en-US" sz="2400" b="1" dirty="0">
                <a:solidFill>
                  <a:srgbClr val="011893"/>
                </a:solidFill>
                <a:latin typeface="+mn-lt"/>
                <a:cs typeface="Arial" panose="020B0604020202020204" pitchFamily="34" charset="0"/>
              </a:rPr>
              <a:t/>
            </a:r>
            <a:br>
              <a:rPr lang="en-US" sz="2400" b="1" dirty="0">
                <a:solidFill>
                  <a:srgbClr val="011893"/>
                </a:solidFill>
                <a:latin typeface="+mn-lt"/>
                <a:cs typeface="Arial" panose="020B0604020202020204" pitchFamily="34" charset="0"/>
              </a:rPr>
            </a:br>
            <a:r>
              <a:rPr lang="en-US" sz="2400" b="1" dirty="0" err="1">
                <a:solidFill>
                  <a:srgbClr val="011893"/>
                </a:solidFill>
              </a:rPr>
              <a:t>MediVault</a:t>
            </a:r>
            <a:r>
              <a:rPr lang="en-US" sz="2400" b="1" dirty="0">
                <a:solidFill>
                  <a:srgbClr val="011893"/>
                </a:solidFill>
              </a:rPr>
              <a:t>: Digital Prescription and Medication Tracker</a:t>
            </a: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xmlns=""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xmlns=""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xmlns=""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xmlns=""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xmlns=""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xmlns="" id="{F5C1A452-4633-BB68-A150-FAF552C36CB9}"/>
              </a:ext>
            </a:extLst>
          </p:cNvPr>
          <p:cNvGraphicFramePr>
            <a:graphicFrameLocks noGrp="1"/>
          </p:cNvGraphicFramePr>
          <p:nvPr>
            <p:extLst>
              <p:ext uri="{D42A27DB-BD31-4B8C-83A1-F6EECF244321}">
                <p14:modId xmlns:p14="http://schemas.microsoft.com/office/powerpoint/2010/main" val="4237161981"/>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xmlns="" val="2649491121"/>
                    </a:ext>
                  </a:extLst>
                </a:gridCol>
                <a:gridCol w="4064000">
                  <a:extLst>
                    <a:ext uri="{9D8B030D-6E8A-4147-A177-3AD203B41FA5}">
                      <a16:colId xmlns:a16="http://schemas.microsoft.com/office/drawing/2014/main" xmlns="" val="1478369533"/>
                    </a:ext>
                  </a:extLst>
                </a:gridCol>
              </a:tblGrid>
              <a:tr h="370840">
                <a:tc>
                  <a:txBody>
                    <a:bodyPr/>
                    <a:lstStyle/>
                    <a:p>
                      <a:r>
                        <a:rPr lang="en-US" dirty="0" smtClean="0"/>
                        <a:t>SAI</a:t>
                      </a:r>
                      <a:r>
                        <a:rPr lang="en-US" baseline="0" dirty="0" smtClean="0"/>
                        <a:t> SURENDRANATH PENDYALA</a:t>
                      </a:r>
                      <a:endParaRPr lang="en-US" dirty="0"/>
                    </a:p>
                  </a:txBody>
                  <a:tcPr/>
                </a:tc>
                <a:tc>
                  <a:txBody>
                    <a:bodyPr/>
                    <a:lstStyle/>
                    <a:p>
                      <a:r>
                        <a:rPr lang="en-US" dirty="0" smtClean="0"/>
                        <a:t>2520030157</a:t>
                      </a:r>
                      <a:endParaRPr lang="en-US" dirty="0"/>
                    </a:p>
                  </a:txBody>
                  <a:tcPr/>
                </a:tc>
                <a:extLst>
                  <a:ext uri="{0D108BD9-81ED-4DB2-BD59-A6C34878D82A}">
                    <a16:rowId xmlns:a16="http://schemas.microsoft.com/office/drawing/2014/main" xmlns="" val="253518174"/>
                  </a:ext>
                </a:extLst>
              </a:tr>
              <a:tr h="370840">
                <a:tc>
                  <a:txBody>
                    <a:bodyPr/>
                    <a:lstStyle/>
                    <a:p>
                      <a:r>
                        <a:rPr lang="en-US" dirty="0" smtClean="0"/>
                        <a:t>SHAIK</a:t>
                      </a:r>
                      <a:r>
                        <a:rPr lang="en-US" baseline="0" dirty="0" smtClean="0"/>
                        <a:t> SABIYA THABASSUM</a:t>
                      </a:r>
                      <a:endParaRPr lang="en-US" dirty="0"/>
                    </a:p>
                  </a:txBody>
                  <a:tcPr/>
                </a:tc>
                <a:tc>
                  <a:txBody>
                    <a:bodyPr/>
                    <a:lstStyle/>
                    <a:p>
                      <a:r>
                        <a:rPr lang="en-US" dirty="0" smtClean="0"/>
                        <a:t>2520030502</a:t>
                      </a:r>
                      <a:endParaRPr lang="en-US" dirty="0"/>
                    </a:p>
                  </a:txBody>
                  <a:tcPr/>
                </a:tc>
                <a:extLst>
                  <a:ext uri="{0D108BD9-81ED-4DB2-BD59-A6C34878D82A}">
                    <a16:rowId xmlns:a16="http://schemas.microsoft.com/office/drawing/2014/main" xmlns="" val="2413438055"/>
                  </a:ext>
                </a:extLst>
              </a:tr>
              <a:tr h="370840">
                <a:tc>
                  <a:txBody>
                    <a:bodyPr/>
                    <a:lstStyle/>
                    <a:p>
                      <a:r>
                        <a:rPr lang="en-US" dirty="0" smtClean="0"/>
                        <a:t>SINGAMSETTY</a:t>
                      </a:r>
                      <a:r>
                        <a:rPr lang="en-US" baseline="0" dirty="0" smtClean="0"/>
                        <a:t> BHEESHMA</a:t>
                      </a:r>
                      <a:endParaRPr lang="en-US" dirty="0"/>
                    </a:p>
                  </a:txBody>
                  <a:tcPr/>
                </a:tc>
                <a:tc>
                  <a:txBody>
                    <a:bodyPr/>
                    <a:lstStyle/>
                    <a:p>
                      <a:r>
                        <a:rPr lang="en-US" dirty="0" smtClean="0"/>
                        <a:t>2520030528</a:t>
                      </a:r>
                      <a:endParaRPr lang="en-US" dirty="0"/>
                    </a:p>
                  </a:txBody>
                  <a:tcPr/>
                </a:tc>
                <a:extLst>
                  <a:ext uri="{0D108BD9-81ED-4DB2-BD59-A6C34878D82A}">
                    <a16:rowId xmlns:a16="http://schemas.microsoft.com/office/drawing/2014/main" xmlns=""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a:t>
            </a:r>
            <a:r>
              <a:rPr lang="en-US" sz="3200" b="1" dirty="0" smtClean="0">
                <a:solidFill>
                  <a:srgbClr val="0070C0"/>
                </a:solidFill>
              </a:rPr>
              <a:t>NUMBER:17</a:t>
            </a:r>
            <a:endParaRPr lang="en-IN" sz="3200" b="1" dirty="0">
              <a:solidFill>
                <a:srgbClr val="0070C0"/>
              </a:solidFill>
            </a:endParaRPr>
          </a:p>
        </p:txBody>
      </p:sp>
      <p:sp>
        <p:nvSpPr>
          <p:cNvPr id="5" name="Footer Placeholder 4">
            <a:extLst>
              <a:ext uri="{FF2B5EF4-FFF2-40B4-BE49-F238E27FC236}">
                <a16:creationId xmlns:a16="http://schemas.microsoft.com/office/drawing/2014/main" xmlns=""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xmlns=""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xmlns="" id="{BD94FEB8-52D1-2D12-5891-6583D8FD44BE}"/>
              </a:ext>
            </a:extLst>
          </p:cNvPr>
          <p:cNvGraphicFramePr>
            <a:graphicFrameLocks noGrp="1"/>
          </p:cNvGraphicFramePr>
          <p:nvPr>
            <p:ph idx="1"/>
            <p:extLst>
              <p:ext uri="{D42A27DB-BD31-4B8C-83A1-F6EECF244321}">
                <p14:modId xmlns:p14="http://schemas.microsoft.com/office/powerpoint/2010/main" val="3702878849"/>
              </p:ext>
            </p:extLst>
          </p:nvPr>
        </p:nvGraphicFramePr>
        <p:xfrm>
          <a:off x="838199" y="1416193"/>
          <a:ext cx="10515600" cy="2307967"/>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xmlns="" val="446563831"/>
                    </a:ext>
                  </a:extLst>
                </a:gridCol>
                <a:gridCol w="5257800">
                  <a:extLst>
                    <a:ext uri="{9D8B030D-6E8A-4147-A177-3AD203B41FA5}">
                      <a16:colId xmlns:a16="http://schemas.microsoft.com/office/drawing/2014/main" xmlns=""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17162894"/>
                  </a:ext>
                </a:extLst>
              </a:tr>
              <a:tr h="629841">
                <a:tc>
                  <a:txBody>
                    <a:bodyPr/>
                    <a:lstStyle/>
                    <a:p>
                      <a:r>
                        <a:rPr lang="en-US" dirty="0" smtClean="0"/>
                        <a:t>SAI SURENDRANATH</a:t>
                      </a:r>
                      <a:r>
                        <a:rPr lang="en-US" baseline="0" dirty="0" smtClean="0"/>
                        <a:t> PENDYALA(2520030157)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Database and </a:t>
                      </a:r>
                      <a:r>
                        <a:rPr lang="en-US" dirty="0" smtClean="0">
                          <a:solidFill>
                            <a:schemeClr val="tx1"/>
                          </a:solidFill>
                        </a:rPr>
                        <a:t>Medication Management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71584153"/>
                  </a:ext>
                </a:extLst>
              </a:tr>
              <a:tr h="629841">
                <a:tc>
                  <a:txBody>
                    <a:bodyPr/>
                    <a:lstStyle/>
                    <a:p>
                      <a:r>
                        <a:rPr lang="en-US" dirty="0" smtClean="0"/>
                        <a:t>SHAIK SABIYA</a:t>
                      </a:r>
                      <a:r>
                        <a:rPr lang="en-US" baseline="0" dirty="0" smtClean="0"/>
                        <a:t> THABASSUM(2520030502)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Web Development and UI/UX design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SINGAMSETTY BHEESHMA(2520030528)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Prescription</a:t>
                      </a:r>
                      <a:r>
                        <a:rPr lang="en-US" baseline="0" dirty="0" smtClean="0"/>
                        <a:t> Processing and System Testing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xmlns=""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xmlns=""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xmlns="" id="{A4A63587-658B-D9DC-0DC8-293DA4D38FF8}"/>
              </a:ext>
            </a:extLst>
          </p:cNvPr>
          <p:cNvSpPr>
            <a:spLocks noGrp="1"/>
          </p:cNvSpPr>
          <p:nvPr>
            <p:ph idx="1"/>
          </p:nvPr>
        </p:nvSpPr>
        <p:spPr/>
        <p:txBody>
          <a:bodyPr>
            <a:normAutofit lnSpcReduction="10000"/>
          </a:bodyPr>
          <a:lstStyle/>
          <a:p>
            <a:pPr marL="0" indent="0" algn="just">
              <a:buNone/>
            </a:pPr>
            <a:r>
              <a:rPr lang="en-US" dirty="0" err="1"/>
              <a:t>MediVault</a:t>
            </a:r>
            <a:r>
              <a:rPr lang="en-US" dirty="0"/>
              <a:t> is a web-based digital prescription and medication tracking system designed to help users manage their prescriptions and medicines in an organized and convenient way. The website provides a centralized platform where users can store prescription details, maintain medicine information, track medication schedules, and set reminders for taking medicines. Instead of depending on physical prescription papers or remembering medication timings manually, users can access their information digitally through the website. </a:t>
            </a:r>
            <a:r>
              <a:rPr lang="en-US" dirty="0" err="1"/>
              <a:t>MediVault</a:t>
            </a:r>
            <a:r>
              <a:rPr lang="en-US" dirty="0"/>
              <a:t> aims to improve medication organization, reduce missed doses, and provide quick access to important prescription information. The system is designed with a simple, user-friendly, and responsive interface that can be accessed through a web browser.</a:t>
            </a:r>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xmlns=""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xmlns=""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xmlns="" id="{B50241EE-20FA-FE88-F0CE-F84CFE3ED762}"/>
              </a:ext>
            </a:extLst>
          </p:cNvPr>
          <p:cNvSpPr>
            <a:spLocks noGrp="1"/>
          </p:cNvSpPr>
          <p:nvPr>
            <p:ph idx="1"/>
          </p:nvPr>
        </p:nvSpPr>
        <p:spPr/>
        <p:txBody>
          <a:bodyPr/>
          <a:lstStyle/>
          <a:p>
            <a:pPr marL="0" indent="0" algn="just">
              <a:buNone/>
            </a:pPr>
            <a:r>
              <a:rPr lang="en-US" dirty="0"/>
              <a:t>Managing medicines and prescriptions manually can be difficult, especially for people who take multiple medicines or have long-term treatments. Physical prescriptions can be lost or damaged, while medication timings may be forgotten. </a:t>
            </a:r>
            <a:r>
              <a:rPr lang="en-US" dirty="0" err="1"/>
              <a:t>MediVault</a:t>
            </a:r>
            <a:r>
              <a:rPr lang="en-US" dirty="0"/>
              <a:t> is developed as a website to provide a simple digital solution for managing prescriptions and medications. Users can create an account, add prescription details, record medicines, specify dosage and timings, and receive reminders for scheduled medications. The website helps users keep their medication information organized in one place and access it whenever required.</a:t>
            </a:r>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xmlns=""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xmlns=""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xmlns="" id="{056021FD-8573-454E-AAE6-0DB770428D43}"/>
              </a:ext>
            </a:extLst>
          </p:cNvPr>
          <p:cNvSpPr>
            <a:spLocks noGrp="1"/>
          </p:cNvSpPr>
          <p:nvPr>
            <p:ph idx="1"/>
          </p:nvPr>
        </p:nvSpPr>
        <p:spPr/>
        <p:txBody>
          <a:bodyPr/>
          <a:lstStyle/>
          <a:p>
            <a:pPr marL="0" indent="0" algn="just">
              <a:buNone/>
            </a:pPr>
            <a:r>
              <a:rPr lang="en-US" dirty="0"/>
              <a:t>In the existing system, patients generally depend on physical prescription papers, handwritten notes, medicine packages, or basic mobile reminder applications to manage their medications. Physical prescriptions can be misplaced, damaged, or difficult to access when required. Basic reminder applications may provide notifications but usually do not offer complete prescription management, medicine history, dosage information, and prescription storage in one platform. Managing multiple medicines manually can also lead to confusion and missed medication timings. Therefore, the existing system lacks an integrated web-based solution for managing prescriptions and medications.</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xmlns=""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xmlns=""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xmlns="" id="{1A1C0964-43C5-DE58-F74B-F0B3B1F5C984}"/>
              </a:ext>
            </a:extLst>
          </p:cNvPr>
          <p:cNvSpPr>
            <a:spLocks noGrp="1"/>
          </p:cNvSpPr>
          <p:nvPr>
            <p:ph idx="1"/>
          </p:nvPr>
        </p:nvSpPr>
        <p:spPr/>
        <p:txBody>
          <a:bodyPr/>
          <a:lstStyle/>
          <a:p>
            <a:pPr marL="0" indent="0" algn="just">
              <a:buNone/>
            </a:pPr>
            <a:r>
              <a:rPr lang="en-US" dirty="0"/>
              <a:t>Patients may face several problems while managing prescriptions and medicines. Physical prescription documents can be lost or damaged, and users may have difficulty remembering medicine names, dosages, timings, and treatment durations. When multiple medicines are prescribed, maintaining their schedules manually becomes more complicated. Previous prescriptions may also be difficult to retrieve when needed. Existing reminder applications generally focus only on alerts and do not provide complete prescription and medication management. Hence, there is a need for a centralized website that can digitally store prescriptions, organize medicine information, track schedules, and provide timely reminders.</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xmlns=""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xmlns=""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xmlns="" id="{A105A205-0B24-5585-AD3A-14F0657A956C}"/>
              </a:ext>
            </a:extLst>
          </p:cNvPr>
          <p:cNvSpPr>
            <a:spLocks noGrp="1"/>
          </p:cNvSpPr>
          <p:nvPr>
            <p:ph idx="1"/>
          </p:nvPr>
        </p:nvSpPr>
        <p:spPr/>
        <p:txBody>
          <a:bodyPr>
            <a:normAutofit lnSpcReduction="10000"/>
          </a:bodyPr>
          <a:lstStyle/>
          <a:p>
            <a:pPr marL="0" indent="0" algn="just">
              <a:buNone/>
            </a:pPr>
            <a:r>
              <a:rPr lang="en-US" dirty="0" err="1"/>
              <a:t>MediVault</a:t>
            </a:r>
            <a:r>
              <a:rPr lang="en-US" dirty="0"/>
              <a:t> provides a centralized web-based solution for digital prescription and medication management. The website allows users to securely store prescription details and maintain information about their medicines, including medicine name, dosage, frequency, and duration. Users can create medication schedules and receive reminders for their medicines. The system also maintains prescription and medication history, making previous information easier to access. The main contribution of </a:t>
            </a:r>
            <a:r>
              <a:rPr lang="en-US" dirty="0" err="1"/>
              <a:t>MediVault</a:t>
            </a:r>
            <a:r>
              <a:rPr lang="en-US" dirty="0"/>
              <a:t> is the integration of prescription storage, medicine tracking, medication scheduling, reminders, and history management into a single user-friendly website. This provides users with a convenient and organized way to manage their personal medication information.</a:t>
            </a:r>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xmlns=""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xmlns=""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xmlns="" id="{D440F2FD-B824-35C5-9EAA-5AF510938C36}"/>
              </a:ext>
            </a:extLst>
          </p:cNvPr>
          <p:cNvSpPr>
            <a:spLocks noGrp="1"/>
          </p:cNvSpPr>
          <p:nvPr>
            <p:ph idx="1"/>
          </p:nvPr>
        </p:nvSpPr>
        <p:spPr/>
        <p:txBody>
          <a:bodyPr/>
          <a:lstStyle/>
          <a:p>
            <a:pPr marL="0" indent="0" algn="just">
              <a:buNone/>
            </a:pPr>
            <a:r>
              <a:rPr lang="en-US" dirty="0"/>
              <a:t>The main objective of </a:t>
            </a:r>
            <a:r>
              <a:rPr lang="en-US" dirty="0" err="1"/>
              <a:t>MediVault</a:t>
            </a:r>
            <a:r>
              <a:rPr lang="en-US" dirty="0"/>
              <a:t> is to develop a user-friendly website that simplifies prescription and medication management. The system aims to provide digital storage for prescriptions, allow users to maintain detailed medicine information, and help them track medication schedules. Another objective is to provide timely medication reminders to reduce the possibility of missed doses. The website also aims to maintain prescription and medication history, provide quick access to important information, improve organization, and provide a secure platform for managing personal prescription records.</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xmlns=""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xmlns=""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xmlns="" id="{D920CCCA-2419-39FC-4F64-F44FEFF2251C}"/>
              </a:ext>
            </a:extLst>
          </p:cNvPr>
          <p:cNvSpPr>
            <a:spLocks noGrp="1"/>
          </p:cNvSpPr>
          <p:nvPr>
            <p:ph idx="1"/>
          </p:nvPr>
        </p:nvSpPr>
        <p:spPr/>
        <p:txBody>
          <a:bodyPr>
            <a:normAutofit fontScale="92500" lnSpcReduction="10000"/>
          </a:bodyPr>
          <a:lstStyle/>
          <a:p>
            <a:pPr marL="0" indent="0" algn="just">
              <a:buNone/>
            </a:pPr>
            <a:r>
              <a:rPr lang="en-US" dirty="0"/>
              <a:t>The </a:t>
            </a:r>
            <a:r>
              <a:rPr lang="en-US" dirty="0" err="1"/>
              <a:t>MediVault</a:t>
            </a:r>
            <a:r>
              <a:rPr lang="en-US" dirty="0"/>
              <a:t> website consists of several modules that work together to provide complete medication management. The User Registration and Login Module allows users to create accounts and securely access their information. The User Profile Module manages basic user details. The Prescription Management Module allows users to add, view, edit, and manage prescription information. The Medicine Management Module stores medicine names, dosages, frequencies, and durations. The Medication Reminder Module allows users to set medication timings and receive reminders. The Medication History Module maintains previous prescriptions and medicine records. The Dashboard Module provides an overview of active prescriptions, medicines, and upcoming schedules. The Search Module helps users quickly find stored prescriptions and medicines, while the Notification Module provides alerts for scheduled medication timings.</a:t>
            </a: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xmlns=""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xmlns=""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110597240"/>
              </p:ext>
            </p:extLst>
          </p:nvPr>
        </p:nvGraphicFramePr>
        <p:xfrm>
          <a:off x="883460" y="1811462"/>
          <a:ext cx="10425080" cy="4379664"/>
        </p:xfrm>
        <a:graphic>
          <a:graphicData uri="http://schemas.openxmlformats.org/drawingml/2006/table">
            <a:tbl>
              <a:tblPr/>
              <a:tblGrid>
                <a:gridCol w="5212540"/>
                <a:gridCol w="5212540"/>
              </a:tblGrid>
              <a:tr h="362611">
                <a:tc>
                  <a:txBody>
                    <a:bodyPr/>
                    <a:lstStyle/>
                    <a:p>
                      <a:r>
                        <a:rPr lang="en-US" sz="1800" b="0" dirty="0" smtClean="0"/>
                        <a:t>Requirement</a:t>
                      </a:r>
                      <a:endParaRPr lang="en-IN" sz="1800" b="0" dirty="0"/>
                    </a:p>
                  </a:txBody>
                  <a:tcPr marL="90653" marR="90653" marT="45326" marB="45326" anchor="ctr">
                    <a:lnL>
                      <a:noFill/>
                    </a:lnL>
                    <a:lnR>
                      <a:noFill/>
                    </a:lnR>
                    <a:lnT>
                      <a:noFill/>
                    </a:lnT>
                    <a:lnB>
                      <a:noFill/>
                    </a:lnB>
                  </a:tcPr>
                </a:tc>
                <a:tc>
                  <a:txBody>
                    <a:bodyPr/>
                    <a:lstStyle/>
                    <a:p>
                      <a:r>
                        <a:rPr lang="en-US" sz="1800" dirty="0" smtClean="0"/>
                        <a:t>Used</a:t>
                      </a:r>
                      <a:endParaRPr lang="en-IN" sz="1800" dirty="0"/>
                    </a:p>
                  </a:txBody>
                  <a:tcPr marL="90653" marR="90653" marT="45326" marB="45326" anchor="ctr">
                    <a:lnL>
                      <a:noFill/>
                    </a:lnL>
                    <a:lnR>
                      <a:noFill/>
                    </a:lnR>
                    <a:lnT>
                      <a:noFill/>
                    </a:lnT>
                    <a:lnB>
                      <a:noFill/>
                    </a:lnB>
                  </a:tcPr>
                </a:tc>
              </a:tr>
              <a:tr h="362611">
                <a:tc>
                  <a:txBody>
                    <a:bodyPr/>
                    <a:lstStyle/>
                    <a:p>
                      <a:r>
                        <a:rPr lang="en-IN" sz="1800" b="0" dirty="0"/>
                        <a:t>Operating System</a:t>
                      </a:r>
                    </a:p>
                  </a:txBody>
                  <a:tcPr marL="90653" marR="90653" marT="45326" marB="45326" anchor="ctr">
                    <a:lnL>
                      <a:noFill/>
                    </a:lnL>
                    <a:lnR>
                      <a:noFill/>
                    </a:lnR>
                    <a:lnT>
                      <a:noFill/>
                    </a:lnT>
                    <a:lnB>
                      <a:noFill/>
                    </a:lnB>
                  </a:tcPr>
                </a:tc>
                <a:tc>
                  <a:txBody>
                    <a:bodyPr/>
                    <a:lstStyle/>
                    <a:p>
                      <a:r>
                        <a:rPr lang="en-IN" sz="1800"/>
                        <a:t>Windows 10/11</a:t>
                      </a:r>
                    </a:p>
                  </a:txBody>
                  <a:tcPr marL="90653" marR="90653" marT="45326" marB="45326" anchor="ctr">
                    <a:lnL>
                      <a:noFill/>
                    </a:lnL>
                    <a:lnR>
                      <a:noFill/>
                    </a:lnR>
                    <a:lnT>
                      <a:noFill/>
                    </a:lnT>
                    <a:lnB>
                      <a:noFill/>
                    </a:lnB>
                  </a:tcPr>
                </a:tc>
              </a:tr>
              <a:tr h="362611">
                <a:tc>
                  <a:txBody>
                    <a:bodyPr/>
                    <a:lstStyle/>
                    <a:p>
                      <a:r>
                        <a:rPr lang="en-IN" sz="1800" b="0" dirty="0"/>
                        <a:t>Front-End</a:t>
                      </a:r>
                    </a:p>
                  </a:txBody>
                  <a:tcPr marL="90653" marR="90653" marT="45326" marB="45326" anchor="ctr">
                    <a:lnL>
                      <a:noFill/>
                    </a:lnL>
                    <a:lnR>
                      <a:noFill/>
                    </a:lnR>
                    <a:lnT>
                      <a:noFill/>
                    </a:lnT>
                    <a:lnB>
                      <a:noFill/>
                    </a:lnB>
                  </a:tcPr>
                </a:tc>
                <a:tc>
                  <a:txBody>
                    <a:bodyPr/>
                    <a:lstStyle/>
                    <a:p>
                      <a:r>
                        <a:rPr lang="en-IN" sz="1800"/>
                        <a:t>React.js, HTML5, CSS3, JavaScript</a:t>
                      </a:r>
                    </a:p>
                  </a:txBody>
                  <a:tcPr marL="90653" marR="90653" marT="45326" marB="45326" anchor="ctr">
                    <a:lnL>
                      <a:noFill/>
                    </a:lnL>
                    <a:lnR>
                      <a:noFill/>
                    </a:lnR>
                    <a:lnT>
                      <a:noFill/>
                    </a:lnT>
                    <a:lnB>
                      <a:noFill/>
                    </a:lnB>
                  </a:tcPr>
                </a:tc>
              </a:tr>
              <a:tr h="362611">
                <a:tc>
                  <a:txBody>
                    <a:bodyPr/>
                    <a:lstStyle/>
                    <a:p>
                      <a:r>
                        <a:rPr lang="en-IN" sz="1800" b="0" dirty="0"/>
                        <a:t>Back-End</a:t>
                      </a:r>
                    </a:p>
                  </a:txBody>
                  <a:tcPr marL="90653" marR="90653" marT="45326" marB="45326" anchor="ctr">
                    <a:lnL>
                      <a:noFill/>
                    </a:lnL>
                    <a:lnR>
                      <a:noFill/>
                    </a:lnR>
                    <a:lnT>
                      <a:noFill/>
                    </a:lnT>
                    <a:lnB>
                      <a:noFill/>
                    </a:lnB>
                  </a:tcPr>
                </a:tc>
                <a:tc>
                  <a:txBody>
                    <a:bodyPr/>
                    <a:lstStyle/>
                    <a:p>
                      <a:r>
                        <a:rPr lang="en-IN" sz="1800"/>
                        <a:t>Node.js + Express.js</a:t>
                      </a:r>
                    </a:p>
                  </a:txBody>
                  <a:tcPr marL="90653" marR="90653" marT="45326" marB="45326" anchor="ctr">
                    <a:lnL>
                      <a:noFill/>
                    </a:lnL>
                    <a:lnR>
                      <a:noFill/>
                    </a:lnR>
                    <a:lnT>
                      <a:noFill/>
                    </a:lnT>
                    <a:lnB>
                      <a:noFill/>
                    </a:lnB>
                  </a:tcPr>
                </a:tc>
              </a:tr>
              <a:tr h="362611">
                <a:tc>
                  <a:txBody>
                    <a:bodyPr/>
                    <a:lstStyle/>
                    <a:p>
                      <a:r>
                        <a:rPr lang="en-IN" sz="1800" b="0" dirty="0"/>
                        <a:t>Database</a:t>
                      </a:r>
                    </a:p>
                  </a:txBody>
                  <a:tcPr marL="90653" marR="90653" marT="45326" marB="45326" anchor="ctr">
                    <a:lnL>
                      <a:noFill/>
                    </a:lnL>
                    <a:lnR>
                      <a:noFill/>
                    </a:lnR>
                    <a:lnT>
                      <a:noFill/>
                    </a:lnT>
                    <a:lnB>
                      <a:noFill/>
                    </a:lnB>
                  </a:tcPr>
                </a:tc>
                <a:tc>
                  <a:txBody>
                    <a:bodyPr/>
                    <a:lstStyle/>
                    <a:p>
                      <a:r>
                        <a:rPr lang="en-IN" sz="1800"/>
                        <a:t>MySQL</a:t>
                      </a:r>
                    </a:p>
                  </a:txBody>
                  <a:tcPr marL="90653" marR="90653" marT="45326" marB="45326" anchor="ctr">
                    <a:lnL>
                      <a:noFill/>
                    </a:lnL>
                    <a:lnR>
                      <a:noFill/>
                    </a:lnR>
                    <a:lnT>
                      <a:noFill/>
                    </a:lnT>
                    <a:lnB>
                      <a:noFill/>
                    </a:lnB>
                  </a:tcPr>
                </a:tc>
              </a:tr>
              <a:tr h="362611">
                <a:tc>
                  <a:txBody>
                    <a:bodyPr/>
                    <a:lstStyle/>
                    <a:p>
                      <a:r>
                        <a:rPr lang="en-IN" sz="1800" b="0" dirty="0"/>
                        <a:t>Development Tool</a:t>
                      </a:r>
                    </a:p>
                  </a:txBody>
                  <a:tcPr marL="90653" marR="90653" marT="45326" marB="45326" anchor="ctr">
                    <a:lnL>
                      <a:noFill/>
                    </a:lnL>
                    <a:lnR>
                      <a:noFill/>
                    </a:lnR>
                    <a:lnT>
                      <a:noFill/>
                    </a:lnT>
                    <a:lnB>
                      <a:noFill/>
                    </a:lnB>
                  </a:tcPr>
                </a:tc>
                <a:tc>
                  <a:txBody>
                    <a:bodyPr/>
                    <a:lstStyle/>
                    <a:p>
                      <a:r>
                        <a:rPr lang="en-IN" sz="1800" dirty="0"/>
                        <a:t>Visual Studio Code</a:t>
                      </a:r>
                    </a:p>
                  </a:txBody>
                  <a:tcPr marL="90653" marR="90653" marT="45326" marB="45326" anchor="ctr">
                    <a:lnL>
                      <a:noFill/>
                    </a:lnL>
                    <a:lnR>
                      <a:noFill/>
                    </a:lnR>
                    <a:lnT>
                      <a:noFill/>
                    </a:lnT>
                    <a:lnB>
                      <a:noFill/>
                    </a:lnB>
                  </a:tcPr>
                </a:tc>
              </a:tr>
              <a:tr h="362611">
                <a:tc>
                  <a:txBody>
                    <a:bodyPr/>
                    <a:lstStyle/>
                    <a:p>
                      <a:r>
                        <a:rPr lang="en-IN" sz="1800" b="0" dirty="0"/>
                        <a:t>Version Control</a:t>
                      </a:r>
                    </a:p>
                  </a:txBody>
                  <a:tcPr marL="90653" marR="90653" marT="45326" marB="45326" anchor="ctr">
                    <a:lnL>
                      <a:noFill/>
                    </a:lnL>
                    <a:lnR>
                      <a:noFill/>
                    </a:lnR>
                    <a:lnT>
                      <a:noFill/>
                    </a:lnT>
                    <a:lnB>
                      <a:noFill/>
                    </a:lnB>
                  </a:tcPr>
                </a:tc>
                <a:tc>
                  <a:txBody>
                    <a:bodyPr/>
                    <a:lstStyle/>
                    <a:p>
                      <a:r>
                        <a:rPr lang="en-IN" sz="1800" dirty="0"/>
                        <a:t>Git &amp; </a:t>
                      </a:r>
                      <a:r>
                        <a:rPr lang="en-IN" sz="1800" dirty="0" err="1"/>
                        <a:t>GitHub</a:t>
                      </a:r>
                      <a:endParaRPr lang="en-IN" sz="1800" dirty="0"/>
                    </a:p>
                  </a:txBody>
                  <a:tcPr marL="90653" marR="90653" marT="45326" marB="45326" anchor="ctr">
                    <a:lnL>
                      <a:noFill/>
                    </a:lnL>
                    <a:lnR>
                      <a:noFill/>
                    </a:lnR>
                    <a:lnT>
                      <a:noFill/>
                    </a:lnT>
                    <a:lnB>
                      <a:noFill/>
                    </a:lnB>
                  </a:tcPr>
                </a:tc>
              </a:tr>
              <a:tr h="362611">
                <a:tc>
                  <a:txBody>
                    <a:bodyPr/>
                    <a:lstStyle/>
                    <a:p>
                      <a:r>
                        <a:rPr lang="en-IN" sz="1800" b="0" dirty="0"/>
                        <a:t>Web Browser</a:t>
                      </a:r>
                    </a:p>
                  </a:txBody>
                  <a:tcPr marL="90653" marR="90653" marT="45326" marB="45326" anchor="ctr">
                    <a:lnL>
                      <a:noFill/>
                    </a:lnL>
                    <a:lnR>
                      <a:noFill/>
                    </a:lnR>
                    <a:lnT>
                      <a:noFill/>
                    </a:lnT>
                    <a:lnB>
                      <a:noFill/>
                    </a:lnB>
                  </a:tcPr>
                </a:tc>
                <a:tc>
                  <a:txBody>
                    <a:bodyPr/>
                    <a:lstStyle/>
                    <a:p>
                      <a:r>
                        <a:rPr lang="en-IN" sz="1800" dirty="0"/>
                        <a:t>Google Chrome</a:t>
                      </a:r>
                    </a:p>
                  </a:txBody>
                  <a:tcPr marL="90653" marR="90653" marT="45326" marB="45326" anchor="ctr">
                    <a:lnL>
                      <a:noFill/>
                    </a:lnL>
                    <a:lnR>
                      <a:noFill/>
                    </a:lnR>
                    <a:lnT>
                      <a:noFill/>
                    </a:lnT>
                    <a:lnB>
                      <a:noFill/>
                    </a:lnB>
                  </a:tcPr>
                </a:tc>
              </a:tr>
              <a:tr h="362611">
                <a:tc>
                  <a:txBody>
                    <a:bodyPr/>
                    <a:lstStyle/>
                    <a:p>
                      <a:r>
                        <a:rPr lang="en-IN" sz="1800" b="0" dirty="0"/>
                        <a:t>Testing</a:t>
                      </a:r>
                    </a:p>
                  </a:txBody>
                  <a:tcPr marL="90653" marR="90653" marT="45326" marB="45326" anchor="ctr">
                    <a:lnL>
                      <a:noFill/>
                    </a:lnL>
                    <a:lnR>
                      <a:noFill/>
                    </a:lnR>
                    <a:lnT>
                      <a:noFill/>
                    </a:lnT>
                    <a:lnB>
                      <a:noFill/>
                    </a:lnB>
                  </a:tcPr>
                </a:tc>
                <a:tc>
                  <a:txBody>
                    <a:bodyPr/>
                    <a:lstStyle/>
                    <a:p>
                      <a:r>
                        <a:rPr lang="en-IN" sz="1800" dirty="0"/>
                        <a:t>Manual Testing / Postman</a:t>
                      </a:r>
                    </a:p>
                  </a:txBody>
                  <a:tcPr marL="90653" marR="90653" marT="45326" marB="45326" anchor="ctr">
                    <a:lnL>
                      <a:noFill/>
                    </a:lnL>
                    <a:lnR>
                      <a:noFill/>
                    </a:lnR>
                    <a:lnT>
                      <a:noFill/>
                    </a:lnT>
                    <a:lnB>
                      <a:noFill/>
                    </a:lnB>
                  </a:tcPr>
                </a:tc>
              </a:tr>
              <a:tr h="362611">
                <a:tc>
                  <a:txBody>
                    <a:bodyPr/>
                    <a:lstStyle/>
                    <a:p>
                      <a:r>
                        <a:rPr lang="en-IN" sz="1800" b="0" dirty="0"/>
                        <a:t>RAM</a:t>
                      </a:r>
                    </a:p>
                  </a:txBody>
                  <a:tcPr marL="90653" marR="90653" marT="45326" marB="45326" anchor="ctr">
                    <a:lnL>
                      <a:noFill/>
                    </a:lnL>
                    <a:lnR>
                      <a:noFill/>
                    </a:lnR>
                    <a:lnT>
                      <a:noFill/>
                    </a:lnT>
                    <a:lnB>
                      <a:noFill/>
                    </a:lnB>
                  </a:tcPr>
                </a:tc>
                <a:tc>
                  <a:txBody>
                    <a:bodyPr/>
                    <a:lstStyle/>
                    <a:p>
                      <a:r>
                        <a:rPr lang="en-IN" sz="1800" dirty="0"/>
                        <a:t>Minimum 4 GB</a:t>
                      </a:r>
                    </a:p>
                  </a:txBody>
                  <a:tcPr marL="90653" marR="90653" marT="45326" marB="45326" anchor="ctr">
                    <a:lnL>
                      <a:noFill/>
                    </a:lnL>
                    <a:lnR>
                      <a:noFill/>
                    </a:lnR>
                    <a:lnT>
                      <a:noFill/>
                    </a:lnT>
                    <a:lnB>
                      <a:noFill/>
                    </a:lnB>
                  </a:tcPr>
                </a:tc>
              </a:tr>
              <a:tr h="362611">
                <a:tc>
                  <a:txBody>
                    <a:bodyPr/>
                    <a:lstStyle/>
                    <a:p>
                      <a:r>
                        <a:rPr lang="en-IN" sz="1800" b="0" dirty="0"/>
                        <a:t>Storage</a:t>
                      </a:r>
                    </a:p>
                  </a:txBody>
                  <a:tcPr marL="90653" marR="90653" marT="45326" marB="45326" anchor="ctr">
                    <a:lnL>
                      <a:noFill/>
                    </a:lnL>
                    <a:lnR>
                      <a:noFill/>
                    </a:lnR>
                    <a:lnT>
                      <a:noFill/>
                    </a:lnT>
                    <a:lnB>
                      <a:noFill/>
                    </a:lnB>
                  </a:tcPr>
                </a:tc>
                <a:tc>
                  <a:txBody>
                    <a:bodyPr/>
                    <a:lstStyle/>
                    <a:p>
                      <a:r>
                        <a:rPr lang="fr-FR" sz="1800" dirty="0"/>
                        <a:t>Minimum 10 GB </a:t>
                      </a:r>
                      <a:r>
                        <a:rPr lang="fr-FR" sz="1800" dirty="0" err="1"/>
                        <a:t>available</a:t>
                      </a:r>
                      <a:r>
                        <a:rPr lang="fr-FR" sz="1800" dirty="0"/>
                        <a:t> </a:t>
                      </a:r>
                      <a:r>
                        <a:rPr lang="fr-FR" sz="1800" dirty="0" err="1"/>
                        <a:t>space</a:t>
                      </a:r>
                      <a:endParaRPr lang="fr-FR" sz="1800" dirty="0"/>
                    </a:p>
                  </a:txBody>
                  <a:tcPr marL="90653" marR="90653" marT="45326" marB="45326" anchor="ctr">
                    <a:lnL>
                      <a:noFill/>
                    </a:lnL>
                    <a:lnR>
                      <a:noFill/>
                    </a:lnR>
                    <a:lnT>
                      <a:noFill/>
                    </a:lnT>
                    <a:lnB>
                      <a:noFill/>
                    </a:lnB>
                  </a:tcPr>
                </a:tc>
              </a:tr>
              <a:tr h="362611">
                <a:tc>
                  <a:txBody>
                    <a:bodyPr/>
                    <a:lstStyle/>
                    <a:p>
                      <a:r>
                        <a:rPr lang="en-IN" sz="1800" b="0" dirty="0"/>
                        <a:t>Internet</a:t>
                      </a:r>
                    </a:p>
                  </a:txBody>
                  <a:tcPr marL="90653" marR="90653" marT="45326" marB="45326" anchor="ctr">
                    <a:lnL>
                      <a:noFill/>
                    </a:lnL>
                    <a:lnR>
                      <a:noFill/>
                    </a:lnR>
                    <a:lnT>
                      <a:noFill/>
                    </a:lnT>
                    <a:lnB>
                      <a:noFill/>
                    </a:lnB>
                  </a:tcPr>
                </a:tc>
                <a:tc>
                  <a:txBody>
                    <a:bodyPr/>
                    <a:lstStyle/>
                    <a:p>
                      <a:r>
                        <a:rPr lang="en-IN" sz="1800" dirty="0"/>
                        <a:t>Stable Internet Connection</a:t>
                      </a:r>
                    </a:p>
                  </a:txBody>
                  <a:tcPr marL="90653" marR="90653" marT="45326" marB="45326" anchor="ctr">
                    <a:lnL>
                      <a:noFill/>
                    </a:lnL>
                    <a:lnR>
                      <a:noFill/>
                    </a:lnR>
                    <a:lnT>
                      <a:noFill/>
                    </a:lnT>
                    <a:lnB>
                      <a:noFill/>
                    </a:lnB>
                  </a:tcPr>
                </a:tc>
              </a:tr>
            </a:tbl>
          </a:graphicData>
        </a:graphic>
      </p:graphicFrame>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0070C0"/>
                </a:solidFill>
              </a:rPr>
              <a:t>CONCLUSION AND FUTURE SCOPE</a:t>
            </a:r>
            <a:endParaRPr lang="en-IN" dirty="0"/>
          </a:p>
        </p:txBody>
      </p:sp>
      <p:sp>
        <p:nvSpPr>
          <p:cNvPr id="3" name="Content Placeholder 2"/>
          <p:cNvSpPr>
            <a:spLocks noGrp="1"/>
          </p:cNvSpPr>
          <p:nvPr>
            <p:ph idx="1"/>
          </p:nvPr>
        </p:nvSpPr>
        <p:spPr>
          <a:xfrm>
            <a:off x="989028" y="1690688"/>
            <a:ext cx="10515600" cy="4351338"/>
          </a:xfrm>
        </p:spPr>
        <p:txBody>
          <a:bodyPr>
            <a:normAutofit fontScale="92500" lnSpcReduction="10000"/>
          </a:bodyPr>
          <a:lstStyle/>
          <a:p>
            <a:pPr marL="0" indent="0" algn="just">
              <a:buNone/>
            </a:pPr>
            <a:r>
              <a:rPr lang="en-US" dirty="0" err="1"/>
              <a:t>MediVault</a:t>
            </a:r>
            <a:r>
              <a:rPr lang="en-US" dirty="0"/>
              <a:t> provides a convenient web-based solution for digitally managing prescriptions and medications. The website helps users store prescription details, maintain medicine information, track medication schedules, and receive reminders in an organized manner. By reducing dependence on physical prescription papers and manual medication tracking, the system can make personal medication management more convenient and accessible.</a:t>
            </a:r>
          </a:p>
          <a:p>
            <a:pPr marL="0" indent="0" algn="just">
              <a:buNone/>
            </a:pPr>
            <a:r>
              <a:rPr lang="en-US" dirty="0"/>
              <a:t>In the future, </a:t>
            </a:r>
            <a:r>
              <a:rPr lang="en-US" dirty="0" err="1"/>
              <a:t>MediVault</a:t>
            </a:r>
            <a:r>
              <a:rPr lang="en-US" dirty="0"/>
              <a:t> can be enhanced with features such as OCR-based prescription scanning, AI-assisted extraction of medicine details, automatic medicine refill reminders, pharmacy integration, doctor connectivity, cloud synchronization, caregiver access, voice-based reminders, wearable-device integration, multilingual support, and medication adherence reports. These improvements can transform </a:t>
            </a:r>
            <a:r>
              <a:rPr lang="en-US" dirty="0" err="1"/>
              <a:t>MediVault</a:t>
            </a:r>
            <a:r>
              <a:rPr lang="en-US" dirty="0"/>
              <a:t> into a more comprehensive digital healthcare management platform.</a:t>
            </a:r>
          </a:p>
          <a:p>
            <a:pPr marL="0" indent="0">
              <a:buNone/>
            </a:pPr>
            <a:endParaRPr lang="en-US" dirty="0"/>
          </a:p>
        </p:txBody>
      </p:sp>
      <p:sp>
        <p:nvSpPr>
          <p:cNvPr id="4" name="Date Placeholder 3"/>
          <p:cNvSpPr>
            <a:spLocks noGrp="1"/>
          </p:cNvSpPr>
          <p:nvPr>
            <p:ph type="dt" sz="half" idx="10"/>
          </p:nvPr>
        </p:nvSpPr>
        <p:spPr/>
        <p:txBody>
          <a:bodyPr/>
          <a:lstStyle/>
          <a:p>
            <a:fld id="{3C447009-55DF-4EA5-900B-29AFB7C8438A}" type="datetime1">
              <a:rPr lang="en-IN" smtClean="0"/>
              <a:t>17-08-2026</a:t>
            </a:fld>
            <a:endParaRPr lang="en-US"/>
          </a:p>
        </p:txBody>
      </p:sp>
      <p:sp>
        <p:nvSpPr>
          <p:cNvPr id="5" name="Footer Placeholder 4"/>
          <p:cNvSpPr>
            <a:spLocks noGrp="1"/>
          </p:cNvSpPr>
          <p:nvPr>
            <p:ph type="ftr" sz="quarter" idx="11"/>
          </p:nvPr>
        </p:nvSpPr>
        <p:spPr/>
        <p:txBody>
          <a:bodyPr/>
          <a:lstStyle/>
          <a:p>
            <a:r>
              <a:rPr lang="en-US" smtClean="0"/>
              <a:t>0th REVIEW           </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164301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8336</TotalTime>
  <Words>1063</Words>
  <Application>Microsoft Office PowerPoint</Application>
  <PresentationFormat>Widescreen</PresentationFormat>
  <Paragraphs>105</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 1st  REVIEW  MediVault: Digital Prescription and Medication Tracker</vt:lpstr>
      <vt:lpstr>GROUP NUMBER:17</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Surendra</dc:creator>
  <cp:lastModifiedBy>Sai Surendra</cp:lastModifiedBy>
  <cp:revision>97</cp:revision>
  <dcterms:created xsi:type="dcterms:W3CDTF">2022-05-20T10:20:31Z</dcterms:created>
  <dcterms:modified xsi:type="dcterms:W3CDTF">2026-08-17T09:55:26Z</dcterms:modified>
</cp:coreProperties>
</file>